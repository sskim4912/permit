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80" y="320040"/>
            <a:ext cx="9525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40"/>
              </a:spcAft>
              <a:defRPr sz="2520" b="1">
                <a:solidFill>
                  <a:srgbClr val="193B30"/>
                </a:solidFill>
                <a:latin typeface="Noto Sans CJK KR"/>
              </a:defRPr>
            </a:pPr>
            <a:r>
              <a:t>출입신청, 개별 확인에서 한 화면 관리로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6300"/>
            <a:ext cx="1066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0">
                <a:solidFill>
                  <a:srgbClr val="697D82"/>
                </a:solidFill>
                <a:latin typeface="Noto Sans CJK KR"/>
              </a:defRPr>
            </a:pPr>
            <a:r>
              <a:t>신청자는 직접 입력하고, 관리자는 같은 화면에서 확인·제출·승인까지 처리합니다.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880" y="320040"/>
            <a:ext cx="1600200" cy="365760"/>
          </a:xfrm>
          <a:prstGeom prst="roundRect">
            <a:avLst>
              <a:gd name="adj" fmla="val 12000"/>
            </a:avLst>
          </a:prstGeom>
          <a:solidFill>
            <a:srgbClr val="E7F2EC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403860"/>
            <a:ext cx="150876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17684F"/>
                </a:solidFill>
                <a:latin typeface="Noto Sans CJK KR"/>
              </a:defRPr>
            </a:pPr>
            <a:r>
              <a:t>업무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" y="6598920"/>
            <a:ext cx="6858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80"/>
              </a:spcAft>
              <a:defRPr sz="840" b="0">
                <a:solidFill>
                  <a:srgbClr val="697D82"/>
                </a:solidFill>
                <a:latin typeface="Noto Sans CJK KR"/>
              </a:defRPr>
            </a:pPr>
            <a:r>
              <a:t>대산 출입관리 | 업무 개선 보고 · 2026.10.15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598920"/>
            <a:ext cx="48768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80"/>
              </a:spcAft>
              <a:defRPr sz="840" b="0">
                <a:solidFill>
                  <a:srgbClr val="697D82"/>
                </a:solidFill>
                <a:latin typeface="Noto Sans CJK KR"/>
              </a:defRPr>
            </a:pPr>
            <a:r>
              <a:t>01 /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47800"/>
            <a:ext cx="4076699" cy="4381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0560" y="1630680"/>
            <a:ext cx="1295400" cy="320040"/>
          </a:xfrm>
          <a:prstGeom prst="roundRect">
            <a:avLst>
              <a:gd name="adj" fmla="val 12000"/>
            </a:avLst>
          </a:prstGeom>
          <a:solidFill>
            <a:srgbClr val="FA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" y="169926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60"/>
              </a:spcAft>
              <a:defRPr sz="1080" b="1">
                <a:solidFill>
                  <a:srgbClr val="A4513B"/>
                </a:solidFill>
                <a:latin typeface="Noto Sans CJK KR"/>
              </a:defRPr>
            </a:pPr>
            <a:r>
              <a:t>개선 대상 업무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" y="2148840"/>
            <a:ext cx="3657600" cy="44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5464C"/>
                </a:solidFill>
                <a:latin typeface="Noto Sans CJK KR"/>
              </a:defRPr>
            </a:pPr>
            <a:r>
              <a:t>흩어진 입력·확인 절차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" y="278130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FA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6280" y="2834640"/>
            <a:ext cx="28956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A4513B"/>
                </a:solidFill>
                <a:latin typeface="Noto Sans CJK KR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66060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60"/>
              </a:spcAft>
              <a:defRPr sz="1380" b="1">
                <a:solidFill>
                  <a:srgbClr val="35464C"/>
                </a:solidFill>
                <a:latin typeface="Noto Sans CJK KR"/>
              </a:defRPr>
            </a:pPr>
            <a:r>
              <a:t>신청 내용 개별 취합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55620"/>
            <a:ext cx="315468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60"/>
              </a:spcAft>
              <a:defRPr sz="1080" b="0">
                <a:solidFill>
                  <a:srgbClr val="697D82"/>
                </a:solidFill>
                <a:latin typeface="Noto Sans CJK KR"/>
              </a:defRPr>
            </a:pPr>
            <a:r>
              <a:t>방문자별 일정·목적·요청팀·출입위치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" y="347472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FA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6280" y="3528060"/>
            <a:ext cx="28956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A4513B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59480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60"/>
              </a:spcAft>
              <a:defRPr sz="1380" b="1">
                <a:solidFill>
                  <a:srgbClr val="35464C"/>
                </a:solidFill>
                <a:latin typeface="Noto Sans CJK KR"/>
              </a:defRPr>
            </a:pPr>
            <a:r>
              <a:t>정보 누락과 형식 오류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749039"/>
            <a:ext cx="315468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60"/>
              </a:spcAft>
              <a:defRPr sz="1080" b="0">
                <a:solidFill>
                  <a:srgbClr val="697D82"/>
                </a:solidFill>
                <a:latin typeface="Noto Sans CJK KR"/>
              </a:defRPr>
            </a:pPr>
            <a:r>
              <a:t>생년월일·휴대전화번호를 다시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" y="416814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FA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280" y="4221480"/>
            <a:ext cx="28956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A4513B"/>
                </a:solidFill>
                <a:latin typeface="Noto Sans CJK KR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152900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60"/>
              </a:spcAft>
              <a:defRPr sz="1380" b="1">
                <a:solidFill>
                  <a:srgbClr val="35464C"/>
                </a:solidFill>
                <a:latin typeface="Noto Sans CJK KR"/>
              </a:defRPr>
            </a:pPr>
            <a:r>
              <a:t>신청 내역과 승인 결과 대조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442460"/>
            <a:ext cx="315468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60"/>
              </a:spcAft>
              <a:defRPr sz="1080" b="0">
                <a:solidFill>
                  <a:srgbClr val="697D82"/>
                </a:solidFill>
                <a:latin typeface="Noto Sans CJK KR"/>
              </a:defRPr>
            </a:pPr>
            <a:r>
              <a:t>신청·제출·승인 정보를 반복적으로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" y="486156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FA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280" y="4914900"/>
            <a:ext cx="28956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A4513B"/>
                </a:solidFill>
                <a:latin typeface="Noto Sans CJK KR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846320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60"/>
              </a:spcAft>
              <a:defRPr sz="1380" b="1">
                <a:solidFill>
                  <a:srgbClr val="35464C"/>
                </a:solidFill>
                <a:latin typeface="Noto Sans CJK KR"/>
              </a:defRPr>
            </a:pPr>
            <a:r>
              <a:t>출입문 위치 별도 안내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135880"/>
            <a:ext cx="315468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60"/>
              </a:spcAft>
              <a:defRPr sz="1080" b="0">
                <a:solidFill>
                  <a:srgbClr val="697D82"/>
                </a:solidFill>
                <a:latin typeface="Noto Sans CJK KR"/>
              </a:defRPr>
            </a:pPr>
            <a:r>
              <a:t>서문·정문 위치를 전화나 메시지로 전달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8680" y="3223260"/>
            <a:ext cx="53340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800"/>
              </a:spcAft>
              <a:defRPr sz="5400" b="1">
                <a:solidFill>
                  <a:srgbClr val="A9B9BF"/>
                </a:solidFill>
                <a:latin typeface="Noto Sans CJK KR"/>
              </a:defRPr>
            </a:pPr>
            <a: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95900" y="1447800"/>
            <a:ext cx="6408420" cy="4381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501640" y="1630680"/>
            <a:ext cx="1447800" cy="320040"/>
          </a:xfrm>
          <a:prstGeom prst="roundRect">
            <a:avLst>
              <a:gd name="adj" fmla="val 12000"/>
            </a:avLst>
          </a:prstGeom>
          <a:solidFill>
            <a:srgbClr val="E7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5460" y="1699260"/>
            <a:ext cx="1295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60"/>
              </a:spcAft>
              <a:defRPr sz="1080" b="1">
                <a:solidFill>
                  <a:srgbClr val="17684F"/>
                </a:solidFill>
                <a:latin typeface="Noto Sans CJK KR"/>
              </a:defRPr>
            </a:pPr>
            <a:r>
              <a:t>현재 시스템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1640" y="2148840"/>
            <a:ext cx="5867400" cy="44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93B30"/>
                </a:solidFill>
                <a:latin typeface="Noto Sans CJK KR"/>
              </a:defRPr>
            </a:pPr>
            <a:r>
              <a:t>입력부터 승인까지, 한 화면에서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1640" y="2788920"/>
            <a:ext cx="1882139" cy="1234440"/>
          </a:xfrm>
          <a:prstGeom prst="roundRect">
            <a:avLst>
              <a:gd name="adj" fmla="val 12000"/>
            </a:avLst>
          </a:prstGeom>
          <a:solidFill>
            <a:srgbClr val="F7FAF8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08320" y="2895600"/>
            <a:ext cx="266700" cy="2667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08320" y="2941320"/>
            <a:ext cx="2667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FFFFFF"/>
                </a:solidFill>
                <a:latin typeface="Noto Sans CJK KR"/>
              </a:defRPr>
            </a:pPr>
            <a: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08320" y="3253740"/>
            <a:ext cx="16764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1">
                <a:solidFill>
                  <a:srgbClr val="193B30"/>
                </a:solidFill>
                <a:latin typeface="Noto Sans CJK KR"/>
              </a:defRPr>
            </a:pPr>
            <a:r>
              <a:t>방문자별 개별 입력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08320" y="3566160"/>
            <a:ext cx="1661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인원마다 다른 방문일자·목적·요청팀·출입위치 입력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05700" y="2788920"/>
            <a:ext cx="1882139" cy="1234440"/>
          </a:xfrm>
          <a:prstGeom prst="roundRect">
            <a:avLst>
              <a:gd name="adj" fmla="val 12000"/>
            </a:avLst>
          </a:prstGeom>
          <a:solidFill>
            <a:srgbClr val="F7FAF8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12379" y="2895600"/>
            <a:ext cx="266700" cy="2667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12379" y="2941320"/>
            <a:ext cx="2667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FFFFFF"/>
                </a:solidFill>
                <a:latin typeface="Noto Sans CJK KR"/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2379" y="3253740"/>
            <a:ext cx="16764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1">
                <a:solidFill>
                  <a:srgbClr val="193B30"/>
                </a:solidFill>
                <a:latin typeface="Noto Sans CJK KR"/>
              </a:defRPr>
            </a:pPr>
            <a:r>
              <a:t>입력 오류 바로 안내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12379" y="3566160"/>
            <a:ext cx="1661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날짜·전화번호 자동 형식 적용, 오류 표시와 커서 이동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09760" y="2788920"/>
            <a:ext cx="1882139" cy="1234440"/>
          </a:xfrm>
          <a:prstGeom prst="roundRect">
            <a:avLst>
              <a:gd name="adj" fmla="val 12000"/>
            </a:avLst>
          </a:prstGeom>
          <a:solidFill>
            <a:srgbClr val="F7FAF8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616440" y="2895600"/>
            <a:ext cx="266700" cy="2667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16440" y="2941320"/>
            <a:ext cx="2667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FFFFFF"/>
                </a:solidFill>
                <a:latin typeface="Noto Sans CJK KR"/>
              </a:defRPr>
            </a:pPr>
            <a: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16440" y="3253740"/>
            <a:ext cx="16764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1">
                <a:solidFill>
                  <a:srgbClr val="193B30"/>
                </a:solidFill>
                <a:latin typeface="Noto Sans CJK KR"/>
              </a:defRPr>
            </a:pPr>
            <a:r>
              <a:t>작성 내용 자동 보관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16440" y="3566160"/>
            <a:ext cx="1661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현재 탭에 자동 임시저장 후 신청 시 목록에 표시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1640" y="4168140"/>
            <a:ext cx="1882139" cy="1234440"/>
          </a:xfrm>
          <a:prstGeom prst="roundRect">
            <a:avLst>
              <a:gd name="adj" fmla="val 12000"/>
            </a:avLst>
          </a:prstGeom>
          <a:solidFill>
            <a:srgbClr val="F7FAF8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608320" y="4274820"/>
            <a:ext cx="266700" cy="2667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08320" y="4320540"/>
            <a:ext cx="2667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FFFFFF"/>
                </a:solidFill>
                <a:latin typeface="Noto Sans CJK KR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08320" y="4632960"/>
            <a:ext cx="16764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1">
                <a:solidFill>
                  <a:srgbClr val="193B30"/>
                </a:solidFill>
                <a:latin typeface="Noto Sans CJK KR"/>
              </a:defRPr>
            </a:pPr>
            <a:r>
              <a:t>관리자 일괄 처리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08320" y="4945380"/>
            <a:ext cx="1661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최대 10명 선택 후 발주처 제출·승인 완료·삭제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05700" y="4168140"/>
            <a:ext cx="1882139" cy="1234440"/>
          </a:xfrm>
          <a:prstGeom prst="roundRect">
            <a:avLst>
              <a:gd name="adj" fmla="val 12000"/>
            </a:avLst>
          </a:prstGeom>
          <a:solidFill>
            <a:srgbClr val="F7FAF8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612379" y="4274820"/>
            <a:ext cx="266700" cy="2667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12379" y="4320540"/>
            <a:ext cx="2667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FFFFFF"/>
                </a:solidFill>
                <a:latin typeface="Noto Sans CJK KR"/>
              </a:defRPr>
            </a:pPr>
            <a:r>
              <a:t>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12379" y="4632960"/>
            <a:ext cx="16764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1">
                <a:solidFill>
                  <a:srgbClr val="193B30"/>
                </a:solidFill>
                <a:latin typeface="Noto Sans CJK KR"/>
              </a:defRPr>
            </a:pPr>
            <a:r>
              <a:t>권한에 맞게 정보 표시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12379" y="4945380"/>
            <a:ext cx="1661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일반 화면은 요약 조회, 개인정보와 처리는 관리자 전용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509760" y="4168140"/>
            <a:ext cx="1882139" cy="1234440"/>
          </a:xfrm>
          <a:prstGeom prst="roundRect">
            <a:avLst>
              <a:gd name="adj" fmla="val 12000"/>
            </a:avLst>
          </a:prstGeom>
          <a:solidFill>
            <a:srgbClr val="F7FAF8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616440" y="4274820"/>
            <a:ext cx="266700" cy="2667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16440" y="4320540"/>
            <a:ext cx="2667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FFFFFF"/>
                </a:solidFill>
                <a:latin typeface="Noto Sans CJK KR"/>
              </a:defRPr>
            </a:pPr>
            <a: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16440" y="4632960"/>
            <a:ext cx="16764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1">
                <a:solidFill>
                  <a:srgbClr val="193B30"/>
                </a:solidFill>
                <a:latin typeface="Noto Sans CJK KR"/>
              </a:defRPr>
            </a:pPr>
            <a:r>
              <a:t>출입문 지도 바로 열기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16440" y="4945380"/>
            <a:ext cx="1661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방문자 입력 제목 오른쪽에서 서문·정문 지도 확인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7680" y="6080760"/>
            <a:ext cx="11216640" cy="39624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6164580"/>
            <a:ext cx="1091184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40"/>
              </a:spcAft>
              <a:defRPr sz="1320" b="1">
                <a:solidFill>
                  <a:srgbClr val="FFFFFF"/>
                </a:solidFill>
                <a:latin typeface="Noto Sans CJK KR"/>
              </a:defRPr>
            </a:pPr>
            <a:r>
              <a:t>개별 취합과 반복 확인을 줄이고, 신청자 직접 입력과 관리자 일괄 처리로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80" y="320040"/>
            <a:ext cx="9525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40"/>
              </a:spcAft>
              <a:defRPr sz="2520" b="1">
                <a:solidFill>
                  <a:srgbClr val="193B30"/>
                </a:solidFill>
                <a:latin typeface="Noto Sans CJK KR"/>
              </a:defRPr>
            </a:pPr>
            <a:r>
              <a:t>출입관리 구축에 활용한 시스템과 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6300"/>
            <a:ext cx="1066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0">
                <a:solidFill>
                  <a:srgbClr val="697D82"/>
                </a:solidFill>
                <a:latin typeface="Noto Sans CJK KR"/>
              </a:defRPr>
            </a:pPr>
            <a:r>
              <a:t>코드 제작부터 저장·인증·공개·자동 배포까지, 7개 서비스를 연결해 운영합니다.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880" y="320040"/>
            <a:ext cx="1600200" cy="365760"/>
          </a:xfrm>
          <a:prstGeom prst="roundRect">
            <a:avLst>
              <a:gd name="adj" fmla="val 12000"/>
            </a:avLst>
          </a:prstGeom>
          <a:solidFill>
            <a:srgbClr val="E7F2EC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403860"/>
            <a:ext cx="150876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17684F"/>
                </a:solidFill>
                <a:latin typeface="Noto Sans CJK KR"/>
              </a:defRPr>
            </a:pPr>
            <a:r>
              <a:t>활용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" y="6598920"/>
            <a:ext cx="6858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80"/>
              </a:spcAft>
              <a:defRPr sz="840" b="0">
                <a:solidFill>
                  <a:srgbClr val="697D82"/>
                </a:solidFill>
                <a:latin typeface="Noto Sans CJK KR"/>
              </a:defRPr>
            </a:pPr>
            <a:r>
              <a:t>대산 출입관리 | 업무 개선 보고 · 2026.10.15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598920"/>
            <a:ext cx="48768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80"/>
              </a:spcAft>
              <a:defRPr sz="840" b="0">
                <a:solidFill>
                  <a:srgbClr val="697D82"/>
                </a:solidFill>
                <a:latin typeface="Noto Sans CJK KR"/>
              </a:defRPr>
            </a:pPr>
            <a:r>
              <a:t>02 /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50876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80" y="1508760"/>
            <a:ext cx="2667000" cy="53340"/>
          </a:xfrm>
          <a:prstGeom prst="rect">
            <a:avLst/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68402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FFFFFF"/>
                </a:solidFill>
                <a:latin typeface="Noto Sans CJK KR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41220"/>
            <a:ext cx="23774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93B30"/>
                </a:solidFill>
                <a:latin typeface="Noto Sans CJK KR"/>
              </a:defRPr>
            </a:pPr>
            <a:r>
              <a:t>ChatGPT 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83180"/>
            <a:ext cx="2362200" cy="449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17684F"/>
                </a:solidFill>
                <a:latin typeface="Noto Sans CJK KR"/>
              </a:defRPr>
            </a:pPr>
            <a:r>
              <a:t>웹페이지 코드 제작·수정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86100"/>
            <a:ext cx="2362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화면 설계와 기능 구현, 오류 수정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150876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1508760"/>
            <a:ext cx="2667000" cy="53340"/>
          </a:xfrm>
          <a:prstGeom prst="rect">
            <a:avLst/>
          </a:prstGeom>
          <a:solidFill>
            <a:srgbClr val="374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89960" y="168402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374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89960" y="1737360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FFFFFF"/>
                </a:solidFill>
                <a:latin typeface="Noto Sans CJK KR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9960" y="2141220"/>
            <a:ext cx="23774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93B30"/>
                </a:solidFill>
                <a:latin typeface="Noto Sans CJK KR"/>
              </a:defRPr>
            </a:pPr>
            <a:r>
              <a:t>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9960" y="2583180"/>
            <a:ext cx="2362200" cy="449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37434B"/>
                </a:solidFill>
                <a:latin typeface="Noto Sans CJK KR"/>
              </a:defRPr>
            </a:pPr>
            <a:r>
              <a:t>코드 저장·변경 이력 관리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9960" y="3086100"/>
            <a:ext cx="2362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수정 이력을 보관하고 배포와 연결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440" y="150876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7440" y="1508760"/>
            <a:ext cx="2667000" cy="53340"/>
          </a:xfrm>
          <a:prstGeom prst="rect">
            <a:avLst/>
          </a:prstGeom>
          <a:solidFill>
            <a:srgbClr val="2C6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39840" y="168402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2C6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9840" y="1737360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FFFFFF"/>
                </a:solidFill>
                <a:latin typeface="Noto Sans CJK KR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9840" y="2141220"/>
            <a:ext cx="23774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93B30"/>
                </a:solidFill>
                <a:latin typeface="Noto Sans CJK KR"/>
              </a:defRPr>
            </a:pPr>
            <a:r>
              <a:t>Firebase Authentication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9840" y="2583180"/>
            <a:ext cx="2362200" cy="449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2C65C8"/>
                </a:solidFill>
                <a:latin typeface="Noto Sans CJK KR"/>
              </a:defRPr>
            </a:pPr>
            <a:r>
              <a:t>관리자 로그인·인증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9840" y="3086100"/>
            <a:ext cx="2362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관리자 전용 기능의 접근 권한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7320" y="150876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37320" y="1508760"/>
            <a:ext cx="2667000" cy="53340"/>
          </a:xfrm>
          <a:prstGeom prst="rect">
            <a:avLst/>
          </a:prstGeom>
          <a:solidFill>
            <a:srgbClr val="D76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89720" y="1684020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D76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9720" y="1737360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FFFFFF"/>
                </a:solidFill>
                <a:latin typeface="Noto Sans CJK KR"/>
              </a:defRPr>
            </a:pPr>
            <a: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2141220"/>
            <a:ext cx="23774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93B30"/>
                </a:solidFill>
                <a:latin typeface="Noto Sans CJK KR"/>
              </a:defRPr>
            </a:pPr>
            <a:r>
              <a:t>Cloud Firestore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2583180"/>
            <a:ext cx="2362200" cy="449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D76D44"/>
                </a:solidFill>
                <a:latin typeface="Noto Sans CJK KR"/>
              </a:defRPr>
            </a:pPr>
            <a:r>
              <a:t>출입 신청 내역 저장·공유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086100"/>
            <a:ext cx="2362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신청 정보와 진행 상태를 Cloud에 저장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7680" y="367284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7680" y="3672840"/>
            <a:ext cx="2667000" cy="53340"/>
          </a:xfrm>
          <a:prstGeom prst="rect">
            <a:avLst/>
          </a:prstGeom>
          <a:solidFill>
            <a:srgbClr val="2C6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0080" y="3848099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2C6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01440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FFFFFF"/>
                </a:solidFill>
                <a:latin typeface="Noto Sans CJK KR"/>
              </a:defRPr>
            </a:pPr>
            <a: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305300"/>
            <a:ext cx="23774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93B30"/>
                </a:solidFill>
                <a:latin typeface="Noto Sans CJK KR"/>
              </a:defRPr>
            </a:pPr>
            <a:r>
              <a:t>Firebase Hosting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747260"/>
            <a:ext cx="2362200" cy="449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2C65C8"/>
                </a:solidFill>
                <a:latin typeface="Noto Sans CJK KR"/>
              </a:defRPr>
            </a:pPr>
            <a:r>
              <a:t>웹페이지 공개·접속 주소 제공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250180"/>
            <a:ext cx="2362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PC·휴대폰에서 별도 설치 없이 접속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37560" y="367284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37560" y="3672840"/>
            <a:ext cx="2667000" cy="53340"/>
          </a:xfrm>
          <a:prstGeom prst="rect">
            <a:avLst/>
          </a:prstGeom>
          <a:solidFill>
            <a:srgbClr val="61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89960" y="3848099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617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89960" y="3901440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FFFFFF"/>
                </a:solidFill>
                <a:latin typeface="Noto Sans CJK KR"/>
              </a:defRPr>
            </a:pPr>
            <a: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89960" y="4305300"/>
            <a:ext cx="23774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93B30"/>
                </a:solidFill>
                <a:latin typeface="Noto Sans CJK KR"/>
              </a:defRPr>
            </a:pPr>
            <a:r>
              <a:t>Google Cloud IAM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89960" y="4747260"/>
            <a:ext cx="2362200" cy="449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617681"/>
                </a:solidFill>
                <a:latin typeface="Noto Sans CJK KR"/>
              </a:defRPr>
            </a:pPr>
            <a:r>
              <a:t>배포용 서비스 계정·권한 관리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89960" y="5250180"/>
            <a:ext cx="2362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GitHub 자동 배포에 필요한 권한 부여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87440" y="367284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87440" y="3672840"/>
            <a:ext cx="2667000" cy="53340"/>
          </a:xfrm>
          <a:prstGeom prst="rect">
            <a:avLst/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339840" y="3848099"/>
            <a:ext cx="304800" cy="30480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9840" y="3901440"/>
            <a:ext cx="3048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60"/>
              </a:spcAft>
              <a:defRPr sz="1080" b="1">
                <a:solidFill>
                  <a:srgbClr val="FFFFFF"/>
                </a:solidFill>
                <a:latin typeface="Noto Sans CJK KR"/>
              </a:defRPr>
            </a:pPr>
            <a: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9840" y="4305300"/>
            <a:ext cx="23774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93B30"/>
                </a:solidFill>
                <a:latin typeface="Noto Sans CJK KR"/>
              </a:defRPr>
            </a:pPr>
            <a:r>
              <a:t>GitHub Actions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39840" y="4747260"/>
            <a:ext cx="2362200" cy="449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17684F"/>
                </a:solidFill>
                <a:latin typeface="Noto Sans CJK KR"/>
              </a:defRPr>
            </a:pPr>
            <a:r>
              <a:t>자동 테스트·배포·게시 확인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39840" y="5250180"/>
            <a:ext cx="2362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40"/>
              </a:spcAft>
              <a:defRPr sz="1019" b="0">
                <a:solidFill>
                  <a:srgbClr val="697D82"/>
                </a:solidFill>
                <a:latin typeface="Noto Sans CJK KR"/>
              </a:defRPr>
            </a:pPr>
            <a:r>
              <a:t>변경사항 검증 후 운영 사이트에 반영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37320" y="3672840"/>
            <a:ext cx="2667000" cy="1965960"/>
          </a:xfrm>
          <a:prstGeom prst="roundRect">
            <a:avLst>
              <a:gd name="adj" fmla="val 12000"/>
            </a:avLst>
          </a:prstGeom>
          <a:solidFill>
            <a:srgbClr val="E7F2EC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20200" y="3893820"/>
            <a:ext cx="231648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80"/>
              </a:spcAft>
              <a:defRPr sz="1439" b="1">
                <a:solidFill>
                  <a:srgbClr val="17684F"/>
                </a:solidFill>
                <a:latin typeface="Noto Sans CJK KR"/>
              </a:defRPr>
            </a:pPr>
            <a:r>
              <a:t>PC에 개발 프로그램 설치 없이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20200" y="4450080"/>
            <a:ext cx="2286000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0">
                <a:solidFill>
                  <a:srgbClr val="35464C"/>
                </a:solidFill>
                <a:latin typeface="Noto Sans CJK KR"/>
              </a:defRPr>
            </a:pPr>
            <a:r>
              <a:t>Node.js·Java는 GitHub Actions 안에서 실행됩니다.</a:t>
            </a:r>
          </a:p>
          <a:p>
            <a:pPr>
              <a:spcAft>
                <a:spcPts val="420"/>
              </a:spcAft>
              <a:defRPr sz="1260" b="0">
                <a:solidFill>
                  <a:srgbClr val="35464C"/>
                </a:solidFill>
                <a:latin typeface="Noto Sans CJK KR"/>
              </a:defRPr>
            </a:pPr>
            <a:r>
              <a:t>사용자는 웹주소로 접속합니다.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7680" y="6080760"/>
            <a:ext cx="11216640" cy="39624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6164580"/>
            <a:ext cx="1091184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40"/>
              </a:spcAft>
              <a:defRPr sz="1320" b="1">
                <a:solidFill>
                  <a:srgbClr val="FFFFFF"/>
                </a:solidFill>
                <a:latin typeface="Noto Sans CJK KR"/>
              </a:defRPr>
            </a:pPr>
            <a:r>
              <a:t>개발·수정 → GitHub 저장 → Actions 검증·배포 → Hosting 공개 → 인증·Cloud 데이터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80" y="320040"/>
            <a:ext cx="9525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40"/>
              </a:spcAft>
              <a:defRPr sz="2520" b="1">
                <a:solidFill>
                  <a:srgbClr val="193B30"/>
                </a:solidFill>
                <a:latin typeface="Noto Sans CJK KR"/>
              </a:defRPr>
            </a:pPr>
            <a:r>
              <a:t>신청·관리자 화면, 핵심 기능을 확대해서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6300"/>
            <a:ext cx="1066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0">
                <a:solidFill>
                  <a:srgbClr val="697D82"/>
                </a:solidFill>
                <a:latin typeface="Noto Sans CJK KR"/>
              </a:defRPr>
            </a:pPr>
            <a:r>
              <a:t>입력 영역과 관리자 처리 메뉴를 확대하고, 주요 조작 위치를 진한 녹색으로 강조했습니다.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880" y="320040"/>
            <a:ext cx="1600200" cy="365760"/>
          </a:xfrm>
          <a:prstGeom prst="roundRect">
            <a:avLst>
              <a:gd name="adj" fmla="val 12000"/>
            </a:avLst>
          </a:prstGeom>
          <a:solidFill>
            <a:srgbClr val="E7F2EC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4600" y="403860"/>
            <a:ext cx="150876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20"/>
              </a:spcAft>
              <a:defRPr sz="960" b="1">
                <a:solidFill>
                  <a:srgbClr val="17684F"/>
                </a:solidFill>
                <a:latin typeface="Noto Sans CJK KR"/>
              </a:defRPr>
            </a:pPr>
            <a:r>
              <a:t>핵심 화면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" y="6598920"/>
            <a:ext cx="6858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80"/>
              </a:spcAft>
              <a:defRPr sz="840" b="0">
                <a:solidFill>
                  <a:srgbClr val="697D82"/>
                </a:solidFill>
                <a:latin typeface="Noto Sans CJK KR"/>
              </a:defRPr>
            </a:pPr>
            <a:r>
              <a:t>대산 출입관리 | 업무 개선 보고 · 2026.10.15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598920"/>
            <a:ext cx="48768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80"/>
              </a:spcAft>
              <a:defRPr sz="840" b="0">
                <a:solidFill>
                  <a:srgbClr val="697D82"/>
                </a:solidFill>
                <a:latin typeface="Noto Sans CJK KR"/>
              </a:defRPr>
            </a:pPr>
            <a:r>
              <a:t>03 /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386840"/>
            <a:ext cx="1121664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" y="1516380"/>
            <a:ext cx="798575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60"/>
              </a:spcAft>
              <a:defRPr sz="1680" b="1">
                <a:solidFill>
                  <a:srgbClr val="17684F"/>
                </a:solidFill>
                <a:latin typeface="Noto Sans CJK KR"/>
              </a:defRPr>
            </a:pPr>
            <a:r>
              <a:t>01  신청자 | 방문자별 정보 입력 후 신청</a:t>
            </a:r>
          </a:p>
        </p:txBody>
      </p:sp>
      <p:pic>
        <p:nvPicPr>
          <p:cNvPr id="11" name="Picture 10" descr="report-applicant-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1960583"/>
            <a:ext cx="8031480" cy="9861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3101340"/>
            <a:ext cx="7940040" cy="236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193B30"/>
                </a:solidFill>
                <a:latin typeface="Noto Sans CJK KR"/>
              </a:defRPr>
            </a:pPr>
            <a:r>
              <a:t>방문일자·목적·요청팀·출입위치·연락처를 방문자마다 개별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554480"/>
            <a:ext cx="2651760" cy="1752600"/>
          </a:xfrm>
          <a:prstGeom prst="roundRect">
            <a:avLst>
              <a:gd name="adj" fmla="val 12000"/>
            </a:avLst>
          </a:prstGeom>
          <a:solidFill>
            <a:srgbClr val="EAF4EE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676400"/>
            <a:ext cx="23622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20"/>
              </a:spcAft>
              <a:defRPr sz="1560" b="1">
                <a:solidFill>
                  <a:srgbClr val="17684F"/>
                </a:solidFill>
                <a:latin typeface="Noto Sans CJK KR"/>
              </a:defRPr>
            </a:pPr>
            <a:r>
              <a:t>입력 → 확인 →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026920"/>
            <a:ext cx="2324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0">
                <a:solidFill>
                  <a:srgbClr val="35464C"/>
                </a:solidFill>
                <a:latin typeface="Noto Sans CJK KR"/>
              </a:defRPr>
            </a:pPr>
            <a:r>
              <a:t>누락·형식 오류 안내</a:t>
            </a:r>
          </a:p>
          <a:p>
            <a:pPr>
              <a:spcAft>
                <a:spcPts val="440"/>
              </a:spcAft>
              <a:defRPr sz="1320" b="0">
                <a:solidFill>
                  <a:srgbClr val="35464C"/>
                </a:solidFill>
                <a:latin typeface="Noto Sans CJK KR"/>
              </a:defRPr>
            </a:pPr>
            <a:r>
              <a:t>이 탭에 자동 임시저장</a:t>
            </a:r>
          </a:p>
        </p:txBody>
      </p:sp>
      <p:pic>
        <p:nvPicPr>
          <p:cNvPr id="16" name="Picture 15" descr="report-submit-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040" y="2712720"/>
            <a:ext cx="1653798" cy="49529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87680" y="3657600"/>
            <a:ext cx="11216640" cy="2118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20" y="3787140"/>
            <a:ext cx="798575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60"/>
              </a:spcAft>
              <a:defRPr sz="1680" b="1">
                <a:solidFill>
                  <a:srgbClr val="17684F"/>
                </a:solidFill>
                <a:latin typeface="Noto Sans CJK KR"/>
              </a:defRPr>
            </a:pPr>
            <a:r>
              <a:t>02  관리자 | 선택한 신청을 한 번에 처리</a:t>
            </a:r>
          </a:p>
        </p:txBody>
      </p:sp>
      <p:pic>
        <p:nvPicPr>
          <p:cNvPr id="19" name="Picture 18" descr="report-admin-foc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170586"/>
            <a:ext cx="8031480" cy="117620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5800" y="5455920"/>
            <a:ext cx="79400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  <a:defRPr sz="1320" b="1">
                <a:solidFill>
                  <a:srgbClr val="193B30"/>
                </a:solidFill>
                <a:latin typeface="Noto Sans CJK KR"/>
              </a:defRPr>
            </a:pPr>
            <a:r>
              <a:t>대상 선택 → 발주처 제출 → 승인 결과 확인 → 승인 완료 처리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0" y="3832860"/>
            <a:ext cx="2651760" cy="1752600"/>
          </a:xfrm>
          <a:prstGeom prst="roundRect">
            <a:avLst>
              <a:gd name="adj" fmla="val 12000"/>
            </a:avLst>
          </a:prstGeom>
          <a:solidFill>
            <a:srgbClr val="EAF4EE"/>
          </a:solidFill>
          <a:ln w="12700">
            <a:solidFill>
              <a:srgbClr val="D5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3970020"/>
            <a:ext cx="234696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20"/>
              </a:spcAft>
              <a:defRPr sz="1560" b="1">
                <a:solidFill>
                  <a:srgbClr val="17684F"/>
                </a:solidFill>
                <a:latin typeface="Noto Sans CJK KR"/>
              </a:defRPr>
            </a:pPr>
            <a:r>
              <a:t>관리자 전용 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4328160"/>
            <a:ext cx="2316480" cy="108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20"/>
              </a:spcAft>
              <a:defRPr sz="1260" b="0">
                <a:solidFill>
                  <a:srgbClr val="35464C"/>
                </a:solidFill>
                <a:latin typeface="Noto Sans CJK KR"/>
              </a:defRPr>
            </a:pPr>
            <a:r>
              <a:t>• 최대 10명 일괄 선택</a:t>
            </a:r>
          </a:p>
          <a:p>
            <a:pPr>
              <a:spcAft>
                <a:spcPts val="420"/>
              </a:spcAft>
              <a:defRPr sz="1260" b="0">
                <a:solidFill>
                  <a:srgbClr val="35464C"/>
                </a:solidFill>
                <a:latin typeface="Noto Sans CJK KR"/>
              </a:defRPr>
            </a:pPr>
            <a:r>
              <a:t>• 발주처 제출·승인·삭제</a:t>
            </a:r>
          </a:p>
          <a:p>
            <a:pPr>
              <a:spcAft>
                <a:spcPts val="420"/>
              </a:spcAft>
              <a:defRPr sz="1260" b="0">
                <a:solidFill>
                  <a:srgbClr val="35464C"/>
                </a:solidFill>
                <a:latin typeface="Noto Sans CJK KR"/>
              </a:defRPr>
            </a:pPr>
            <a:r>
              <a:t>• 목록 안에서 바로 수정</a:t>
            </a:r>
          </a:p>
          <a:p>
            <a:pPr>
              <a:spcAft>
                <a:spcPts val="420"/>
              </a:spcAft>
              <a:defRPr sz="1260" b="0">
                <a:solidFill>
                  <a:srgbClr val="35464C"/>
                </a:solidFill>
                <a:latin typeface="Noto Sans CJK KR"/>
              </a:defRPr>
            </a:pPr>
            <a:r>
              <a:t>• 조회 내역 CSV 다운로드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" y="5844540"/>
            <a:ext cx="1072896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80"/>
              </a:spcAft>
              <a:defRPr sz="840" b="0">
                <a:solidFill>
                  <a:srgbClr val="697D82"/>
                </a:solidFill>
                <a:latin typeface="Noto Sans CJK KR"/>
              </a:defRPr>
            </a:pPr>
            <a:r>
              <a:t>현재 구현 UI를 가상 방문자로 재현 · 핵심 영역 확대 및 대비 보정 · 운영 데이터 변경 없음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" y="6080760"/>
            <a:ext cx="11216640" cy="396240"/>
          </a:xfrm>
          <a:prstGeom prst="roundRect">
            <a:avLst>
              <a:gd name="adj" fmla="val 12000"/>
            </a:avLst>
          </a:prstGeom>
          <a:solidFill>
            <a:srgbClr val="176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64580"/>
            <a:ext cx="1091184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40"/>
              </a:spcAft>
              <a:defRPr sz="1320" b="1">
                <a:solidFill>
                  <a:srgbClr val="FFFFFF"/>
                </a:solidFill>
                <a:latin typeface="Noto Sans CJK KR"/>
              </a:defRPr>
            </a:pPr>
            <a:r>
              <a:t>신청자는 입력과 신청에 집중하고, 관리자는 같은 목록에서 확인·제출·승인까지 처리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