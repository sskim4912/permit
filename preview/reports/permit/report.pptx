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80" y="320040"/>
            <a:ext cx="9525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40"/>
              </a:spcAft>
              <a:defRPr sz="2520" b="1">
                <a:solidFill>
                  <a:srgbClr val="193B30"/>
                </a:solidFill>
                <a:latin typeface="Noto Sans CJK KR"/>
              </a:defRPr>
            </a:pPr>
            <a:r>
              <a:t>출입신청, 개별 확인에서 한 화면 관리로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6300"/>
            <a:ext cx="1066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0">
                <a:solidFill>
                  <a:srgbClr val="697D82"/>
                </a:solidFill>
                <a:latin typeface="Noto Sans CJK KR"/>
              </a:defRPr>
            </a:pPr>
            <a:r>
              <a:t>신청자는 직접 입력하고, 관리자는 같은 화면에서 확인·제출·승인까지 처리합니다.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88880" y="320040"/>
            <a:ext cx="1600200" cy="365760"/>
          </a:xfrm>
          <a:prstGeom prst="roundRect">
            <a:avLst>
              <a:gd name="adj" fmla="val 12000"/>
            </a:avLst>
          </a:prstGeom>
          <a:solidFill>
            <a:srgbClr val="E7F2EC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34600" y="403860"/>
            <a:ext cx="150876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17684F"/>
                </a:solidFill>
                <a:latin typeface="Noto Sans CJK KR"/>
              </a:defRPr>
            </a:pPr>
            <a:r>
              <a:t>업무 개선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6598920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"/>
              </a:spcAft>
              <a:defRPr sz="840" b="0">
                <a:solidFill>
                  <a:srgbClr val="697D82"/>
                </a:solidFill>
                <a:latin typeface="Noto Sans CJK KR"/>
              </a:defRPr>
            </a:pPr>
            <a:r>
              <a:t>대산 출입관리 | 업무 개선 보고 · 2026.10.15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98920"/>
            <a:ext cx="48768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80"/>
              </a:spcAft>
              <a:defRPr sz="840" b="0">
                <a:solidFill>
                  <a:srgbClr val="697D82"/>
                </a:solidFill>
                <a:latin typeface="Noto Sans CJK KR"/>
              </a:defRPr>
            </a:pPr>
            <a:r>
              <a:t>01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1447800"/>
            <a:ext cx="4076699" cy="4381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0560" y="1630680"/>
            <a:ext cx="1295400" cy="320040"/>
          </a:xfrm>
          <a:prstGeom prst="roundRect">
            <a:avLst>
              <a:gd name="adj" fmla="val 12000"/>
            </a:avLst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" y="169926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1">
                <a:solidFill>
                  <a:srgbClr val="A4513B"/>
                </a:solidFill>
                <a:latin typeface="Noto Sans CJK KR"/>
              </a:defRPr>
            </a:pPr>
            <a:r>
              <a:t>개선 대상 업무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" y="2148840"/>
            <a:ext cx="36576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5464C"/>
                </a:solidFill>
                <a:latin typeface="Noto Sans CJK KR"/>
              </a:defRPr>
            </a:pPr>
            <a:r>
              <a:t>흩어진 입력·확인 절차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" y="278130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280" y="2834640"/>
            <a:ext cx="28956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A4513B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6606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60"/>
              </a:spcAft>
              <a:defRPr sz="1380" b="1">
                <a:solidFill>
                  <a:srgbClr val="35464C"/>
                </a:solidFill>
                <a:latin typeface="Noto Sans CJK KR"/>
              </a:defRPr>
            </a:pPr>
            <a:r>
              <a:t>신청 내용 개별 취합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55620"/>
            <a:ext cx="315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방문자별 일정·목적·요청팀·출입위치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" y="347472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280" y="3528060"/>
            <a:ext cx="28956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A4513B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5948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60"/>
              </a:spcAft>
              <a:defRPr sz="1380" b="1">
                <a:solidFill>
                  <a:srgbClr val="35464C"/>
                </a:solidFill>
                <a:latin typeface="Noto Sans CJK KR"/>
              </a:defRPr>
            </a:pPr>
            <a:r>
              <a:t>정보 누락과 형식 오류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49039"/>
            <a:ext cx="315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생년월일·휴대전화번호를 다시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" y="416814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280" y="4221480"/>
            <a:ext cx="28956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A4513B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5290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60"/>
              </a:spcAft>
              <a:defRPr sz="1380" b="1">
                <a:solidFill>
                  <a:srgbClr val="35464C"/>
                </a:solidFill>
                <a:latin typeface="Noto Sans CJK KR"/>
              </a:defRPr>
            </a:pPr>
            <a:r>
              <a:t>신청 내역과 승인 결과 대조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42460"/>
            <a:ext cx="315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신청·제출·승인 정보를 반복적으로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" y="486156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280" y="4914900"/>
            <a:ext cx="28956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A4513B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4632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60"/>
              </a:spcAft>
              <a:defRPr sz="1380" b="1">
                <a:solidFill>
                  <a:srgbClr val="35464C"/>
                </a:solidFill>
                <a:latin typeface="Noto Sans CJK KR"/>
              </a:defRPr>
            </a:pPr>
            <a:r>
              <a:t>출입문 위치 별도 안내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35880"/>
            <a:ext cx="3154680" cy="327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서문·정문 위치를 전화나 메시지로 전달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8680" y="3223260"/>
            <a:ext cx="5334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800"/>
              </a:spcAft>
              <a:defRPr sz="5400" b="1">
                <a:solidFill>
                  <a:srgbClr val="A9B9BF"/>
                </a:solidFill>
                <a:latin typeface="Noto Sans CJK KR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95900" y="1447800"/>
            <a:ext cx="6408420" cy="4381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01640" y="1630680"/>
            <a:ext cx="1447800" cy="320040"/>
          </a:xfrm>
          <a:prstGeom prst="roundRect">
            <a:avLst>
              <a:gd name="adj" fmla="val 12000"/>
            </a:avLst>
          </a:prstGeom>
          <a:solidFill>
            <a:srgbClr val="E7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5460" y="1699260"/>
            <a:ext cx="1295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1">
                <a:solidFill>
                  <a:srgbClr val="17684F"/>
                </a:solidFill>
                <a:latin typeface="Noto Sans CJK KR"/>
              </a:defRPr>
            </a:pPr>
            <a:r>
              <a:t>현재 시스템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1640" y="2148840"/>
            <a:ext cx="5867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3B30"/>
                </a:solidFill>
                <a:latin typeface="Noto Sans CJK KR"/>
              </a:defRPr>
            </a:pPr>
            <a:r>
              <a:t>입력부터 승인까지, 한 화면에서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01640" y="2788920"/>
            <a:ext cx="1882139" cy="1234440"/>
          </a:xfrm>
          <a:prstGeom prst="roundRect">
            <a:avLst>
              <a:gd name="adj" fmla="val 12000"/>
            </a:avLst>
          </a:prstGeom>
          <a:solidFill>
            <a:srgbClr val="F7FAF8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08320" y="2895600"/>
            <a:ext cx="266700" cy="2667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8320" y="2941320"/>
            <a:ext cx="2667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FFFFF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8320" y="3253740"/>
            <a:ext cx="16764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20"/>
              </a:spcAft>
              <a:defRPr sz="1260" b="1">
                <a:solidFill>
                  <a:srgbClr val="193B30"/>
                </a:solidFill>
                <a:latin typeface="Noto Sans CJK KR"/>
              </a:defRPr>
            </a:pPr>
            <a:r>
              <a:t>방문자별 개별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8320" y="3566160"/>
            <a:ext cx="1661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인원마다 다른 방문일자·목적·요청팀·출입위치 입력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05700" y="2788920"/>
            <a:ext cx="1882139" cy="1234440"/>
          </a:xfrm>
          <a:prstGeom prst="roundRect">
            <a:avLst>
              <a:gd name="adj" fmla="val 12000"/>
            </a:avLst>
          </a:prstGeom>
          <a:solidFill>
            <a:srgbClr val="F7FAF8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12379" y="2895600"/>
            <a:ext cx="266700" cy="2667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12379" y="2941320"/>
            <a:ext cx="2667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FFFFF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2379" y="3253740"/>
            <a:ext cx="16764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20"/>
              </a:spcAft>
              <a:defRPr sz="1260" b="1">
                <a:solidFill>
                  <a:srgbClr val="193B30"/>
                </a:solidFill>
                <a:latin typeface="Noto Sans CJK KR"/>
              </a:defRPr>
            </a:pPr>
            <a:r>
              <a:t>입력 오류 바로 안내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2379" y="3566160"/>
            <a:ext cx="1661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날짜·전화번호 자동 형식 적용, 오류 표시와 커서 이동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2788920"/>
            <a:ext cx="1882139" cy="1234440"/>
          </a:xfrm>
          <a:prstGeom prst="roundRect">
            <a:avLst>
              <a:gd name="adj" fmla="val 12000"/>
            </a:avLst>
          </a:prstGeom>
          <a:solidFill>
            <a:srgbClr val="F7FAF8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16440" y="2895600"/>
            <a:ext cx="266700" cy="2667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6440" y="2941320"/>
            <a:ext cx="2667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FFFFF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6440" y="3253740"/>
            <a:ext cx="16764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20"/>
              </a:spcAft>
              <a:defRPr sz="1260" b="1">
                <a:solidFill>
                  <a:srgbClr val="193B30"/>
                </a:solidFill>
                <a:latin typeface="Noto Sans CJK KR"/>
              </a:defRPr>
            </a:pPr>
            <a:r>
              <a:t>작성 내용 자동 보관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6440" y="3566160"/>
            <a:ext cx="1661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현재 탭에 자동 임시저장 후 신청 시 목록에 표시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1640" y="4168140"/>
            <a:ext cx="1882139" cy="1234440"/>
          </a:xfrm>
          <a:prstGeom prst="roundRect">
            <a:avLst>
              <a:gd name="adj" fmla="val 12000"/>
            </a:avLst>
          </a:prstGeom>
          <a:solidFill>
            <a:srgbClr val="F7FAF8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608320" y="4274820"/>
            <a:ext cx="266700" cy="2667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08320" y="4320540"/>
            <a:ext cx="2667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FFFFF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08320" y="4632960"/>
            <a:ext cx="16764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20"/>
              </a:spcAft>
              <a:defRPr sz="1260" b="1">
                <a:solidFill>
                  <a:srgbClr val="193B30"/>
                </a:solidFill>
                <a:latin typeface="Noto Sans CJK KR"/>
              </a:defRPr>
            </a:pPr>
            <a:r>
              <a:t>관리자 일괄 처리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08320" y="4945380"/>
            <a:ext cx="1661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최대 10명 선택 후 발주처 제출·승인 완료·삭제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5700" y="4168140"/>
            <a:ext cx="1882139" cy="1234440"/>
          </a:xfrm>
          <a:prstGeom prst="roundRect">
            <a:avLst>
              <a:gd name="adj" fmla="val 12000"/>
            </a:avLst>
          </a:prstGeom>
          <a:solidFill>
            <a:srgbClr val="F7FAF8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612379" y="4274820"/>
            <a:ext cx="266700" cy="2667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12379" y="4320540"/>
            <a:ext cx="2667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FFFFF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12379" y="4632960"/>
            <a:ext cx="16764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20"/>
              </a:spcAft>
              <a:defRPr sz="1260" b="1">
                <a:solidFill>
                  <a:srgbClr val="193B30"/>
                </a:solidFill>
                <a:latin typeface="Noto Sans CJK KR"/>
              </a:defRPr>
            </a:pPr>
            <a:r>
              <a:t>권한에 맞게 정보 표시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2379" y="4945380"/>
            <a:ext cx="1661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일반 화면은 요약 조회, 개인정보와 처리는 관리자 전용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09760" y="4168140"/>
            <a:ext cx="1882139" cy="1234440"/>
          </a:xfrm>
          <a:prstGeom prst="roundRect">
            <a:avLst>
              <a:gd name="adj" fmla="val 12000"/>
            </a:avLst>
          </a:prstGeom>
          <a:solidFill>
            <a:srgbClr val="F7FAF8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616440" y="4274820"/>
            <a:ext cx="266700" cy="2667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16440" y="4320540"/>
            <a:ext cx="2667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FFFFFF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16440" y="4632960"/>
            <a:ext cx="16764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20"/>
              </a:spcAft>
              <a:defRPr sz="1260" b="1">
                <a:solidFill>
                  <a:srgbClr val="193B30"/>
                </a:solidFill>
                <a:latin typeface="Noto Sans CJK KR"/>
              </a:defRPr>
            </a:pPr>
            <a:r>
              <a:t>출입문 지도 바로 열기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16440" y="4945380"/>
            <a:ext cx="1661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방문자 입력 제목 오른쪽에서 서문·정문 지도 확인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7680" y="6080760"/>
            <a:ext cx="11216640" cy="39624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164580"/>
            <a:ext cx="1091184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40"/>
              </a:spcAft>
              <a:defRPr sz="1320" b="1">
                <a:solidFill>
                  <a:srgbClr val="FFFFFF"/>
                </a:solidFill>
                <a:latin typeface="Noto Sans CJK KR"/>
              </a:defRPr>
            </a:pPr>
            <a:r>
              <a:t>개별 취합과 반복 확인을 줄이고, 신청자 직접 입력과 관리자 일괄 처리로 전환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80" y="320040"/>
            <a:ext cx="9525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40"/>
              </a:spcAft>
              <a:defRPr sz="2520" b="1">
                <a:solidFill>
                  <a:srgbClr val="193B30"/>
                </a:solidFill>
                <a:latin typeface="Noto Sans CJK KR"/>
              </a:defRPr>
            </a:pPr>
            <a:r>
              <a:t>출입관리 구축에 활용한 시스템과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6300"/>
            <a:ext cx="1066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0">
                <a:solidFill>
                  <a:srgbClr val="697D82"/>
                </a:solidFill>
                <a:latin typeface="Noto Sans CJK KR"/>
              </a:defRPr>
            </a:pPr>
            <a:r>
              <a:t>코드 제작부터 저장·인증·공개·자동 배포까지, 7개 서비스를 연결해 운영합니다.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88880" y="320040"/>
            <a:ext cx="1600200" cy="365760"/>
          </a:xfrm>
          <a:prstGeom prst="roundRect">
            <a:avLst>
              <a:gd name="adj" fmla="val 12000"/>
            </a:avLst>
          </a:prstGeom>
          <a:solidFill>
            <a:srgbClr val="E7F2EC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34600" y="403860"/>
            <a:ext cx="150876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17684F"/>
                </a:solidFill>
                <a:latin typeface="Noto Sans CJK KR"/>
              </a:defRPr>
            </a:pPr>
            <a:r>
              <a:t>활용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6598920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"/>
              </a:spcAft>
              <a:defRPr sz="840" b="0">
                <a:solidFill>
                  <a:srgbClr val="697D82"/>
                </a:solidFill>
                <a:latin typeface="Noto Sans CJK KR"/>
              </a:defRPr>
            </a:pPr>
            <a:r>
              <a:t>대산 출입관리 | 업무 개선 보고 · 2026.10.15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98920"/>
            <a:ext cx="48768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80"/>
              </a:spcAft>
              <a:defRPr sz="840" b="0">
                <a:solidFill>
                  <a:srgbClr val="697D82"/>
                </a:solidFill>
                <a:latin typeface="Noto Sans CJK KR"/>
              </a:defRPr>
            </a:pPr>
            <a:r>
              <a:t>02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150876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80" y="1508760"/>
            <a:ext cx="2667000" cy="53340"/>
          </a:xfrm>
          <a:prstGeom prst="rect">
            <a:avLst/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8402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FFFFF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1220"/>
            <a:ext cx="23774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3B30"/>
                </a:solidFill>
                <a:latin typeface="Noto Sans CJK KR"/>
              </a:defRPr>
            </a:pPr>
            <a:r>
              <a:t>ChatGPT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83180"/>
            <a:ext cx="23622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7684F"/>
                </a:solidFill>
                <a:latin typeface="Noto Sans CJK KR"/>
              </a:defRPr>
            </a:pPr>
            <a:r>
              <a:t>웹페이지 코드 제작·수정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6100"/>
            <a:ext cx="236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화면 설계와 기능 구현, 오류 수정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50876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508760"/>
            <a:ext cx="2667000" cy="53340"/>
          </a:xfrm>
          <a:prstGeom prst="rect">
            <a:avLst/>
          </a:prstGeom>
          <a:solidFill>
            <a:srgbClr val="37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89960" y="168402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37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9960" y="1737360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FFFFF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9960" y="2141220"/>
            <a:ext cx="23774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3B30"/>
                </a:solidFill>
                <a:latin typeface="Noto Sans CJK KR"/>
              </a:defRPr>
            </a:pPr>
            <a: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9960" y="2583180"/>
            <a:ext cx="23622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37434B"/>
                </a:solidFill>
                <a:latin typeface="Noto Sans CJK KR"/>
              </a:defRPr>
            </a:pPr>
            <a:r>
              <a:t>코드 저장·변경 이력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9960" y="3086100"/>
            <a:ext cx="236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수정 이력을 보관하고 배포와 연결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440" y="150876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440" y="1508760"/>
            <a:ext cx="2667000" cy="53340"/>
          </a:xfrm>
          <a:prstGeom prst="rect">
            <a:avLst/>
          </a:prstGeom>
          <a:solidFill>
            <a:srgbClr val="2C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9840" y="168402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2C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9840" y="1737360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FFFFF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9840" y="2141220"/>
            <a:ext cx="23774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3B30"/>
                </a:solidFill>
                <a:latin typeface="Noto Sans CJK KR"/>
              </a:defRPr>
            </a:pPr>
            <a:r>
              <a:t>Firebase 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9840" y="2583180"/>
            <a:ext cx="23622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2C65C8"/>
                </a:solidFill>
                <a:latin typeface="Noto Sans CJK KR"/>
              </a:defRPr>
            </a:pPr>
            <a:r>
              <a:t>관리자 로그인·인증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9840" y="3086100"/>
            <a:ext cx="236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관리자 전용 기능의 접근 권한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37320" y="150876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37320" y="1508760"/>
            <a:ext cx="2667000" cy="53340"/>
          </a:xfrm>
          <a:prstGeom prst="rect">
            <a:avLst/>
          </a:prstGeom>
          <a:solidFill>
            <a:srgbClr val="D76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9720" y="1684020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D76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1737360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FFFFF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141220"/>
            <a:ext cx="23774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3B30"/>
                </a:solidFill>
                <a:latin typeface="Noto Sans CJK KR"/>
              </a:defRPr>
            </a:pPr>
            <a:r>
              <a:t>Cloud Firestore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83180"/>
            <a:ext cx="23622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D76D44"/>
                </a:solidFill>
                <a:latin typeface="Noto Sans CJK KR"/>
              </a:defRPr>
            </a:pPr>
            <a:r>
              <a:t>출입 신청 내역 저장·공유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086100"/>
            <a:ext cx="236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신청 정보와 진행 상태를 Cloud에 저장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7680" y="367284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7680" y="3672840"/>
            <a:ext cx="2667000" cy="53340"/>
          </a:xfrm>
          <a:prstGeom prst="rect">
            <a:avLst/>
          </a:prstGeom>
          <a:solidFill>
            <a:srgbClr val="2C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3848099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2C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901440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FFFFF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05300"/>
            <a:ext cx="23774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3B30"/>
                </a:solidFill>
                <a:latin typeface="Noto Sans CJK KR"/>
              </a:defRPr>
            </a:pPr>
            <a:r>
              <a:t>Firebase Hosting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747260"/>
            <a:ext cx="23622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2C65C8"/>
                </a:solidFill>
                <a:latin typeface="Noto Sans CJK KR"/>
              </a:defRPr>
            </a:pPr>
            <a:r>
              <a:t>웹페이지 공개·접속 주소 제공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250180"/>
            <a:ext cx="236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PC·휴대폰에서 별도 설치 없이 접속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367284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7560" y="3672840"/>
            <a:ext cx="2667000" cy="53340"/>
          </a:xfrm>
          <a:prstGeom prst="rect">
            <a:avLst/>
          </a:prstGeom>
          <a:solidFill>
            <a:srgbClr val="61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89960" y="3848099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617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9960" y="3901440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FFFFFF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9960" y="4305300"/>
            <a:ext cx="23774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3B30"/>
                </a:solidFill>
                <a:latin typeface="Noto Sans CJK KR"/>
              </a:defRPr>
            </a:pPr>
            <a:r>
              <a:t>Google Cloud IAM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9960" y="4747260"/>
            <a:ext cx="23622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617681"/>
                </a:solidFill>
                <a:latin typeface="Noto Sans CJK KR"/>
              </a:defRPr>
            </a:pPr>
            <a:r>
              <a:t>배포용 서비스 계정·권한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9960" y="5250180"/>
            <a:ext cx="236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GitHub 자동 배포에 필요한 권한 부여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7440" y="367284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87440" y="3672840"/>
            <a:ext cx="2667000" cy="53340"/>
          </a:xfrm>
          <a:prstGeom prst="rect">
            <a:avLst/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39840" y="3848099"/>
            <a:ext cx="304800" cy="30480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39840" y="3901440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60"/>
              </a:spcAft>
              <a:defRPr sz="1080" b="1">
                <a:solidFill>
                  <a:srgbClr val="FFFFFF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9840" y="4305300"/>
            <a:ext cx="23774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3B30"/>
                </a:solidFill>
                <a:latin typeface="Noto Sans CJK KR"/>
              </a:defRPr>
            </a:pPr>
            <a:r>
              <a:t>GitHub 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9840" y="4747260"/>
            <a:ext cx="2362200" cy="449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7684F"/>
                </a:solidFill>
                <a:latin typeface="Noto Sans CJK KR"/>
              </a:defRPr>
            </a:pPr>
            <a:r>
              <a:t>자동 테스트·배포·게시 확인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9840" y="5250180"/>
            <a:ext cx="236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40"/>
              </a:spcAft>
              <a:defRPr sz="1019" b="0">
                <a:solidFill>
                  <a:srgbClr val="697D82"/>
                </a:solidFill>
                <a:latin typeface="Noto Sans CJK KR"/>
              </a:defRPr>
            </a:pPr>
            <a:r>
              <a:t>변경사항 검증 후 운영 사이트에 반영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37320" y="3672840"/>
            <a:ext cx="2667000" cy="1965960"/>
          </a:xfrm>
          <a:prstGeom prst="roundRect">
            <a:avLst>
              <a:gd name="adj" fmla="val 12000"/>
            </a:avLst>
          </a:prstGeom>
          <a:solidFill>
            <a:srgbClr val="E7F2EC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20200" y="3893820"/>
            <a:ext cx="23164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80"/>
              </a:spcAft>
              <a:defRPr sz="1439" b="1">
                <a:solidFill>
                  <a:srgbClr val="17684F"/>
                </a:solidFill>
                <a:latin typeface="Noto Sans CJK KR"/>
              </a:defRPr>
            </a:pPr>
            <a:r>
              <a:t>PC에 개발 프로그램 설치 없이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0200" y="4450080"/>
            <a:ext cx="2286000" cy="883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20"/>
              </a:spcAft>
              <a:defRPr sz="1260" b="0">
                <a:solidFill>
                  <a:srgbClr val="35464C"/>
                </a:solidFill>
                <a:latin typeface="Noto Sans CJK KR"/>
              </a:defRPr>
            </a:pPr>
            <a:r>
              <a:t>Node.js·Java는 GitHub Actions 안에서 실행됩니다.</a:t>
            </a:r>
          </a:p>
          <a:p>
            <a:pPr>
              <a:spcAft>
                <a:spcPts val="420"/>
              </a:spcAft>
              <a:defRPr sz="1260" b="0">
                <a:solidFill>
                  <a:srgbClr val="35464C"/>
                </a:solidFill>
                <a:latin typeface="Noto Sans CJK KR"/>
              </a:defRPr>
            </a:pPr>
            <a:r>
              <a:t>사용자는 웹주소로 접속합니다.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7680" y="6080760"/>
            <a:ext cx="11216640" cy="39624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164580"/>
            <a:ext cx="1091184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40"/>
              </a:spcAft>
              <a:defRPr sz="1320" b="1">
                <a:solidFill>
                  <a:srgbClr val="FFFFFF"/>
                </a:solidFill>
                <a:latin typeface="Noto Sans CJK KR"/>
              </a:defRPr>
            </a:pPr>
            <a:r>
              <a:t>개발·수정 → GitHub 저장 → Actions 검증·배포 → Hosting 공개 → 인증·Cloud 데이터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80" y="320040"/>
            <a:ext cx="9525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40"/>
              </a:spcAft>
              <a:defRPr sz="2520" b="1">
                <a:solidFill>
                  <a:srgbClr val="193B30"/>
                </a:solidFill>
                <a:latin typeface="Noto Sans CJK KR"/>
              </a:defRPr>
            </a:pPr>
            <a:r>
              <a:t>실제 신청·관리자 화면과 이용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6300"/>
            <a:ext cx="1066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0">
                <a:solidFill>
                  <a:srgbClr val="697D82"/>
                </a:solidFill>
                <a:latin typeface="Noto Sans CJK KR"/>
              </a:defRPr>
            </a:pPr>
            <a:r>
              <a:t>제공해주신 운영 화면을 기준으로 기능과 처리 순서를 정리했습니다.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88880" y="320040"/>
            <a:ext cx="1600200" cy="365760"/>
          </a:xfrm>
          <a:prstGeom prst="roundRect">
            <a:avLst>
              <a:gd name="adj" fmla="val 12000"/>
            </a:avLst>
          </a:prstGeom>
          <a:solidFill>
            <a:srgbClr val="E7F2EC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34600" y="403860"/>
            <a:ext cx="150876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20"/>
              </a:spcAft>
              <a:defRPr sz="960" b="1">
                <a:solidFill>
                  <a:srgbClr val="17684F"/>
                </a:solidFill>
                <a:latin typeface="Noto Sans CJK KR"/>
              </a:defRPr>
            </a:pPr>
            <a:r>
              <a:t>화면 및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6598920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"/>
              </a:spcAft>
              <a:defRPr sz="840" b="0">
                <a:solidFill>
                  <a:srgbClr val="697D82"/>
                </a:solidFill>
                <a:latin typeface="Noto Sans CJK KR"/>
              </a:defRPr>
            </a:pPr>
            <a:r>
              <a:t>대산 출입관리 | 업무 개선 보고 · 2026.10.15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98920"/>
            <a:ext cx="48768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80"/>
              </a:spcAft>
              <a:defRPr sz="840" b="0">
                <a:solidFill>
                  <a:srgbClr val="697D82"/>
                </a:solidFill>
                <a:latin typeface="Noto Sans CJK KR"/>
              </a:defRPr>
            </a:pPr>
            <a:r>
              <a:t>03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1447800"/>
            <a:ext cx="5516880" cy="4328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7440" y="1447800"/>
            <a:ext cx="5516880" cy="4328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" y="1615440"/>
            <a:ext cx="5135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60"/>
              </a:spcAft>
              <a:defRPr sz="1680" b="1">
                <a:solidFill>
                  <a:srgbClr val="17684F"/>
                </a:solidFill>
                <a:latin typeface="Noto Sans CJK KR"/>
              </a:defRPr>
            </a:pPr>
            <a:r>
              <a:t>신청자 | 방문자 정보 입력·신청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320" y="1615440"/>
            <a:ext cx="5135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60"/>
              </a:spcAft>
              <a:defRPr sz="1680" b="1">
                <a:solidFill>
                  <a:srgbClr val="17684F"/>
                </a:solidFill>
                <a:latin typeface="Noto Sans CJK KR"/>
              </a:defRPr>
            </a:pPr>
            <a:r>
              <a:t>관리자 | 확인·제출·승인·삭제</a:t>
            </a:r>
          </a:p>
        </p:txBody>
      </p:sp>
      <p:pic>
        <p:nvPicPr>
          <p:cNvPr id="13" name="Picture 12" descr="report-applic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2197406"/>
            <a:ext cx="5242560" cy="1800246"/>
          </a:xfrm>
          <a:prstGeom prst="rect">
            <a:avLst/>
          </a:prstGeom>
        </p:spPr>
      </p:pic>
      <p:pic>
        <p:nvPicPr>
          <p:cNvPr id="14" name="Picture 13" descr="report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31302"/>
            <a:ext cx="5242560" cy="1732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4198620"/>
            <a:ext cx="50825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93B30"/>
                </a:solidFill>
                <a:latin typeface="Noto Sans CJK KR"/>
              </a:defRPr>
            </a:pPr>
            <a:r>
              <a:t>1. 방문자별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42460"/>
            <a:ext cx="50292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방문일자·목적·요청팀·출입위치 개별 지정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93920"/>
            <a:ext cx="50825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93B30"/>
                </a:solidFill>
                <a:latin typeface="Noto Sans CJK KR"/>
              </a:defRPr>
            </a:pPr>
            <a:r>
              <a:t>2. 입력 확인 후 신청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37760"/>
            <a:ext cx="50292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자동 형식 적용·오류 안내·탭 자동 임시저장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89220"/>
            <a:ext cx="50825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93B30"/>
                </a:solidFill>
                <a:latin typeface="Noto Sans CJK KR"/>
              </a:defRPr>
            </a:pPr>
            <a:r>
              <a:t>3. 신청 목록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33060"/>
            <a:ext cx="50292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신청 후 목록 표시 / 개인정보는 관리자 전용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5560" y="4198620"/>
            <a:ext cx="50825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93B30"/>
                </a:solidFill>
                <a:latin typeface="Noto Sans CJK KR"/>
              </a:defRPr>
            </a:pPr>
            <a:r>
              <a:t>1. 관리자 접속 후 확인·수정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5560" y="4442460"/>
            <a:ext cx="50292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같은 화면의 목록에서 바로 수정·저장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5560" y="4693920"/>
            <a:ext cx="50825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93B30"/>
                </a:solidFill>
                <a:latin typeface="Noto Sans CJK KR"/>
              </a:defRPr>
            </a:pPr>
            <a:r>
              <a:t>2. 최대 10명 선택·발주처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5560" y="4937760"/>
            <a:ext cx="50292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메일 앱에서 실제 전송 후 전달 완료 기록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5560" y="5189220"/>
            <a:ext cx="50825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40"/>
              </a:spcAft>
              <a:defRPr sz="1320" b="1">
                <a:solidFill>
                  <a:srgbClr val="193B30"/>
                </a:solidFill>
                <a:latin typeface="Noto Sans CJK KR"/>
              </a:defRPr>
            </a:pPr>
            <a:r>
              <a:t>3. 승인 결과 확인 후 처리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5560" y="5433060"/>
            <a:ext cx="5029200" cy="236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60"/>
              </a:spcAft>
              <a:defRPr sz="1080" b="0">
                <a:solidFill>
                  <a:srgbClr val="697D82"/>
                </a:solidFill>
                <a:latin typeface="Noto Sans CJK KR"/>
              </a:defRPr>
            </a:pPr>
            <a:r>
              <a:t>승인 완료 처리·선택 삭제·CSV 다운로드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" y="5722620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"/>
              </a:spcAft>
              <a:defRPr sz="840" b="0">
                <a:solidFill>
                  <a:srgbClr val="697D82"/>
                </a:solidFill>
                <a:latin typeface="Noto Sans CJK KR"/>
              </a:defRPr>
            </a:pPr>
            <a:r>
              <a:t>화면: 현재 구현 UI를 가상 방문자 1명으로 재현 · 운영 데이터 변경 없음 · 효과는 정량 측정 전 기대 효과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7680" y="6080760"/>
            <a:ext cx="11216640" cy="396240"/>
          </a:xfrm>
          <a:prstGeom prst="roundRect">
            <a:avLst>
              <a:gd name="adj" fmla="val 12000"/>
            </a:avLst>
          </a:prstGeom>
          <a:solidFill>
            <a:srgbClr val="176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64580"/>
            <a:ext cx="1091184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40"/>
              </a:spcAft>
              <a:defRPr sz="1320" b="1">
                <a:solidFill>
                  <a:srgbClr val="FFFFFF"/>
                </a:solidFill>
                <a:latin typeface="Noto Sans CJK KR"/>
              </a:defRPr>
            </a:pPr>
            <a:r>
              <a:t>기대 효과: 반복 확인 감소 · 입력 누락 예방 · 신청 내역 공유 · 관리자 처리 절차 간소화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